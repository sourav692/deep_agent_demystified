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588050" y="0"/>
            <a:ext cx="3555950" cy="5143500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134350" y="504825"/>
            <a:ext cx="1009650" cy="0"/>
          </a:xfrm>
          <a:prstGeom prst="line">
            <a:avLst/>
          </a:prstGeom>
          <a:noFill/>
          <a:ln w="1009650">
            <a:solidFill>
              <a:srgbClr val="06B6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39175" y="0"/>
            <a:ext cx="0" cy="1009650"/>
          </a:xfrm>
          <a:prstGeom prst="line">
            <a:avLst/>
          </a:prstGeom>
          <a:noFill/>
          <a:ln w="10096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2000" y="888950"/>
            <a:ext cx="492241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SYNAPTIC COMMAND // DEEP AGENT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2000" y="1193750"/>
            <a:ext cx="4922419" cy="15997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</a:t>
            </a:r>
            <a:pPr algn="l" indent="0" marL="0">
              <a:lnSpc>
                <a:spcPts val="4200"/>
              </a:lnSpc>
              <a:buNone/>
            </a:pPr>
            <a:r>
              <a:rPr lang="en-US" sz="4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LangGraph</a:t>
            </a:r>
            <a:pPr algn="l" indent="0" marL="0">
              <a:lnSpc>
                <a:spcPts val="4200"/>
              </a:lnSpc>
              <a:buNone/>
            </a:pPr>
            <a:endParaRPr lang="en-US" sz="40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4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Engineering Deep Agents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762000" y="3022104"/>
            <a:ext cx="888950" cy="507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762000" y="3250555"/>
            <a:ext cx="4922419" cy="4979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multi-agent orchestration to harness-driven intelligence.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842099" y="888950"/>
            <a:ext cx="28498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FRAMEWORK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842099" y="1073051"/>
            <a:ext cx="28498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deepagents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842099" y="1435001"/>
            <a:ext cx="2793950" cy="12650"/>
          </a:xfrm>
          <a:prstGeom prst="rect">
            <a:avLst/>
          </a:prstGeom>
          <a:solidFill>
            <a:srgbClr val="2430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5842099" y="1600051"/>
            <a:ext cx="28498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842099" y="1784152"/>
            <a:ext cx="28498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42099" y="2146102"/>
            <a:ext cx="2793950" cy="12650"/>
          </a:xfrm>
          <a:prstGeom prst="rect">
            <a:avLst/>
          </a:prstGeom>
          <a:solidFill>
            <a:srgbClr val="2430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842099" y="2311152"/>
            <a:ext cx="28498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842099" y="2495252"/>
            <a:ext cx="284982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Apps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62000" y="4645075"/>
            <a:ext cx="1645715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SOURAV BANERJEE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27846" y="4678412"/>
            <a:ext cx="76200" cy="76200"/>
          </a:xfrm>
          <a:prstGeom prst="roundRect">
            <a:avLst>
              <a:gd name="adj" fmla="val 1200000"/>
            </a:avLst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2756446" y="4645075"/>
            <a:ext cx="391808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20139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685604" y="419100"/>
            <a:ext cx="4103787" cy="25301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992541" y="355550"/>
            <a:ext cx="167637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STATE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888950"/>
            <a:ext cx="8290509" cy="934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80"/>
              </a:lnSpc>
              <a:spcAft>
                <a:spcPts val="1000"/>
              </a:spcAft>
              <a:buNone/>
            </a:pPr>
            <a:r>
              <a:rPr lang="en-US" sz="3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Synaptic Command on stock LangGraph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7950" y="1950541"/>
            <a:ext cx="829050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insurance multi-agent system: orchestrator + 8 subagents + persistent memory + project artifacts.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2222450"/>
            <a:ext cx="354813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07950" y="2517725"/>
            <a:ext cx="3548131" cy="9447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central orchestrator that routes user intent to specialized subagents, recalls cross-conversation memory, and persists project outputs to Unity Catalog.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7950" y="3614886"/>
            <a:ext cx="3548131" cy="7085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naive approach: build it directly in LangGraph using </a:t>
            </a:r>
            <a:pPr algn="l" indent="0" marL="0">
              <a:lnSpc>
                <a:spcPts val="1860"/>
              </a:lnSpc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StateGraph</a:t>
            </a:r>
            <a:pPr algn="l" indent="0" marL="0">
              <a:lnSpc>
                <a:spcPts val="1860"/>
              </a:lnSpc>
              <a:spcAft>
                <a:spcPts val="1200"/>
              </a:spcAft>
              <a:buNone/>
            </a:pPr>
            <a:r>
              <a:rPr lang="en-US" sz="12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 supervisor pattern and custom message reducers.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303961" y="2222450"/>
            <a:ext cx="4331940" cy="2476500"/>
          </a:xfrm>
          <a:prstGeom prst="roundRect">
            <a:avLst>
              <a:gd name="adj" fmla="val 4103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4583311" y="2501801"/>
            <a:ext cx="3848704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REQUIRED CAPABILITIES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83311" y="2797076"/>
            <a:ext cx="3773239" cy="16633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8 domain subagents (dev, research, memory, 4× Genie)</a:t>
            </a:r>
            <a:endParaRPr lang="en-US" sz="1100" dirty="0"/>
          </a:p>
          <a:p>
            <a:pPr algn="l" marL="342900" indent="-3429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memory across conversation threads</a:t>
            </a:r>
            <a:endParaRPr lang="en-US" sz="1100" dirty="0"/>
          </a:p>
          <a:p>
            <a:pPr algn="l" marL="342900" indent="-3429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 project files to UC Volume</a:t>
            </a:r>
            <a:endParaRPr lang="en-US" sz="1100" dirty="0"/>
          </a:p>
          <a:p>
            <a:pPr algn="l" marL="342900" indent="-3429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 tool calls + intermediate steps via SSE</a:t>
            </a:r>
            <a:endParaRPr lang="en-US" sz="1100" dirty="0"/>
          </a:p>
          <a:p>
            <a:pPr algn="l" marL="342900" indent="-342900">
              <a:lnSpc>
                <a:spcPts val="1650"/>
              </a:lnSpc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complex multi-step tasks reliably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0" y="5041999"/>
            <a:ext cx="9144000" cy="101501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186613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LIMITATIONS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540645" y="419100"/>
            <a:ext cx="1971973" cy="25301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715768" y="355550"/>
            <a:ext cx="399868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STOCK LANGGRAPH FALLS SHORT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762000"/>
            <a:ext cx="8290509" cy="408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pain points building this in raw LangGraph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7950" y="1247031"/>
            <a:ext cx="829050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one is solvable — but you end up rebuilding the same harness, over and over.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1650950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1763" y="1650950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3276" y="1777901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3276" y="1949351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Manual State Plumbing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3276" y="2175272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 reducers, MessagesState extensions, and channel wiring for every new field.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577828" y="1650950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Shape 11"/>
          <p:cNvSpPr/>
          <p:nvPr/>
        </p:nvSpPr>
        <p:spPr>
          <a:xfrm>
            <a:off x="3601641" y="1650950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803154" y="1777901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803154" y="1949351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 Pollution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803154" y="2175272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subagent messages flow back to the supervisor — token explosion across 8 agents.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07950" y="2996952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31763" y="2996952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3276" y="3123902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33276" y="3295352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First-Class Planning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3276" y="3521273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ReAct-only loops. No built-in TODO list, no scratchpad, no plan-execute scaffolding.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3577828" y="2996952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3601641" y="2996952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803154" y="3123902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803154" y="3295352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 Result Bloat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803154" y="3521273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web search and SQL results clog the orchestrator's window with no offload primitive.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07950" y="4342954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Shape 26"/>
          <p:cNvSpPr/>
          <p:nvPr/>
        </p:nvSpPr>
        <p:spPr>
          <a:xfrm>
            <a:off x="531763" y="4342954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3276" y="4469904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33276" y="4641354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Boilerplate Subagents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3276" y="4867275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subagent = bespoke graph, prompt, tool wiring, recursion guards. Repeat × 8.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3577828" y="4342954"/>
            <a:ext cx="2942927" cy="1244501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7150" dist="21299" dir="3780000">
              <a:srgbClr val="0f172a">
                <a:alpha val="8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3" name="Shape 31"/>
          <p:cNvSpPr/>
          <p:nvPr/>
        </p:nvSpPr>
        <p:spPr>
          <a:xfrm>
            <a:off x="3601641" y="4342954"/>
            <a:ext cx="0" cy="1244501"/>
          </a:xfrm>
          <a:prstGeom prst="line">
            <a:avLst/>
          </a:prstGeom>
          <a:noFill/>
          <a:ln w="47625">
            <a:solidFill>
              <a:srgbClr val="F43F5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803154" y="4469904"/>
            <a:ext cx="259069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900" b="1" dirty="0">
                <a:solidFill>
                  <a:srgbClr val="F43F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803154" y="4641354"/>
            <a:ext cx="2590699" cy="1751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80"/>
              </a:lnSpc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File System Primitive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3803154" y="4867275"/>
            <a:ext cx="2590699" cy="308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standard way to share artifacts between agents — invent your own every time.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0" y="5041999"/>
            <a:ext cx="9144000" cy="101501"/>
          </a:xfrm>
          <a:prstGeom prst="rect">
            <a:avLst/>
          </a:prstGeom>
          <a:solidFill>
            <a:srgbClr val="F43F5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198226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INTRODUCING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654498" y="419100"/>
            <a:ext cx="4376291" cy="25301"/>
          </a:xfrm>
          <a:prstGeom prst="rect">
            <a:avLst/>
          </a:prstGeom>
          <a:solidFill>
            <a:srgbClr val="2430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7233940" y="355550"/>
            <a:ext cx="143015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AGENTS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825401"/>
            <a:ext cx="8290509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50"/>
              </a:lnSpc>
              <a:spcAft>
                <a:spcPts val="800"/>
              </a:spcAft>
              <a:buNone/>
            </a:pPr>
            <a:r>
              <a:rPr lang="en-US" sz="3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</a:t>
            </a:r>
            <a:pPr algn="l" indent="0" marL="0">
              <a:lnSpc>
                <a:spcPts val="3450"/>
              </a:lnSpc>
              <a:spcAft>
                <a:spcPts val="800"/>
              </a:spcAft>
              <a:buNone/>
            </a:pPr>
            <a:r>
              <a:rPr lang="en-US" sz="30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 Agents</a:t>
            </a:r>
            <a:pPr algn="l" indent="0" marL="0">
              <a:lnSpc>
                <a:spcPts val="3450"/>
              </a:lnSpc>
              <a:spcAft>
                <a:spcPts val="800"/>
              </a:spcAft>
              <a:buNone/>
            </a:pPr>
            <a:r>
              <a:rPr lang="en-US" sz="3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an opinionated harness on top of LangGraph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07950" y="1803202"/>
            <a:ext cx="829050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en-US" sz="13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a new framework — a curated set of primitives that turn raw LangGraph into a production-ready agentic runtime.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07950" y="1905000"/>
            <a:ext cx="8734276" cy="990302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1763" y="1905000"/>
            <a:ext cx="0" cy="990302"/>
          </a:xfrm>
          <a:prstGeom prst="line">
            <a:avLst/>
          </a:prstGeom>
          <a:noFill/>
          <a:ln w="47625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34926" y="2295376"/>
            <a:ext cx="739865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deepagents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LangGraph </a:t>
            </a:r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Planning </a:t>
            </a:r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Virtual FS </a:t>
            </a:r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Subagents </a:t>
            </a:r>
            <a:pPr algn="l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Prompts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07950" y="2920901"/>
            <a:ext cx="1930598" cy="1636663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507950" y="2939951"/>
            <a:ext cx="1930598" cy="0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651" y="3162151"/>
            <a:ext cx="1606701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243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5651" y="3466802"/>
            <a:ext cx="160670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Tool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651" y="3714452"/>
            <a:ext cx="1606701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Built-in </a:t>
            </a:r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write_todos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explicit, inspectable task plans before execution.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540050" y="2920901"/>
            <a:ext cx="1930450" cy="1636663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2540050" y="2939951"/>
            <a:ext cx="1930450" cy="0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717750" y="3162151"/>
            <a:ext cx="160654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243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2717750" y="3466802"/>
            <a:ext cx="16065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 File System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717750" y="3714452"/>
            <a:ext cx="1606549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State-backed </a:t>
            </a:r>
            <a:pPr algn="l" indent="0" marL="0">
              <a:lnSpc>
                <a:spcPts val="1260"/>
              </a:lnSpc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ls / read_file / write_file / edit_file</a:t>
            </a:r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share artifacts without context bloat.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0" y="2920901"/>
            <a:ext cx="1930450" cy="1636663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572000" y="2939951"/>
            <a:ext cx="1930450" cy="0"/>
          </a:xfrm>
          <a:prstGeom prst="line">
            <a:avLst/>
          </a:prstGeom>
          <a:noFill/>
          <a:ln w="38100">
            <a:solidFill>
              <a:srgbClr val="A855F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749701" y="3162151"/>
            <a:ext cx="160654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243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749701" y="3466802"/>
            <a:ext cx="16065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Subagents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49701" y="3714452"/>
            <a:ext cx="160654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Spawn isolated context windows per role. Each subagent has its own scratch space.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603950" y="2920901"/>
            <a:ext cx="1930450" cy="1636663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603950" y="2939951"/>
            <a:ext cx="1930450" cy="0"/>
          </a:xfrm>
          <a:prstGeom prst="line">
            <a:avLst/>
          </a:prstGeom>
          <a:noFill/>
          <a:ln w="381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81651" y="3162151"/>
            <a:ext cx="1606549" cy="279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00"/>
              </a:lnSpc>
              <a:spcAft>
                <a:spcPts val="200"/>
              </a:spcAft>
              <a:buNone/>
            </a:pPr>
            <a:r>
              <a:rPr lang="en-US" sz="2200" b="1" dirty="0">
                <a:solidFill>
                  <a:srgbClr val="24304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28" name="Text 26"/>
          <p:cNvSpPr/>
          <p:nvPr/>
        </p:nvSpPr>
        <p:spPr>
          <a:xfrm>
            <a:off x="6781651" y="3466802"/>
            <a:ext cx="160654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Scaffold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81651" y="3714452"/>
            <a:ext cx="1606549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Battle-tested Claude-style system instructions baked in — skip the prompt re-engineering.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0" y="5041999"/>
            <a:ext cx="9144000" cy="101501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165937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PRINCIPLE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337941" y="419100"/>
            <a:ext cx="3679478" cy="25301"/>
          </a:xfrm>
          <a:prstGeom prst="rect">
            <a:avLst/>
          </a:prstGeom>
          <a:solidFill>
            <a:srgbClr val="E2E8F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220569" y="355550"/>
            <a:ext cx="246379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ENGINEERING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762000"/>
            <a:ext cx="8290509" cy="4088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20"/>
              </a:lnSpc>
              <a:spcAft>
                <a:spcPts val="600"/>
              </a:spcAft>
              <a:buNone/>
            </a:pPr>
            <a:r>
              <a:rPr lang="en-US" sz="2800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tuning the model. </a:t>
            </a:r>
            <a:pPr algn="l" indent="0" marL="0">
              <a:lnSpc>
                <a:spcPts val="3220"/>
              </a:lnSpc>
              <a:spcAft>
                <a:spcPts val="600"/>
              </a:spcAft>
              <a:buNone/>
            </a:pPr>
            <a:r>
              <a:rPr lang="en-US" sz="2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 the harness.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507950" y="1247031"/>
            <a:ext cx="8290509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is fixed. The scaffolding around it is where reliability and steerability come from.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950" y="1752600"/>
            <a:ext cx="3185815" cy="86588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f172a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31763" y="1752600"/>
            <a:ext cx="0" cy="865882"/>
          </a:xfrm>
          <a:prstGeom prst="line">
            <a:avLst/>
          </a:prstGeom>
          <a:noFill/>
          <a:ln w="47625">
            <a:solidFill>
              <a:srgbClr val="7C3AE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8726" y="1930301"/>
            <a:ext cx="27865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58726" y="2120801"/>
            <a:ext cx="278652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Decouple the LLM from the orchestration logic — swap models without rewriting agents.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07950" y="2719983"/>
            <a:ext cx="3185815" cy="86588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f172a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531763" y="2719983"/>
            <a:ext cx="0" cy="865882"/>
          </a:xfrm>
          <a:prstGeom prst="line">
            <a:avLst/>
          </a:prstGeom>
          <a:noFill/>
          <a:ln w="47625">
            <a:solidFill>
              <a:srgbClr val="7C3AE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58726" y="2897684"/>
            <a:ext cx="27865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REUSABILITY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58726" y="3088184"/>
            <a:ext cx="278652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harness, different agents and tools. Subagents become composable units.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07950" y="3687366"/>
            <a:ext cx="3185815" cy="865882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3470" dir="2700000">
              <a:srgbClr val="0f172a">
                <a:alpha val="6000"/>
              </a:srgbClr>
            </a:outerShdw>
          </a:effectLst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Shape 14"/>
          <p:cNvSpPr/>
          <p:nvPr/>
        </p:nvSpPr>
        <p:spPr>
          <a:xfrm>
            <a:off x="531763" y="3687366"/>
            <a:ext cx="0" cy="865882"/>
          </a:xfrm>
          <a:prstGeom prst="line">
            <a:avLst/>
          </a:prstGeom>
          <a:noFill/>
          <a:ln w="4762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726" y="3865066"/>
            <a:ext cx="278652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0B14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STEERABILITY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58726" y="4055566"/>
            <a:ext cx="2786527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Explicit planning beats implicit reasoning. Inspectable TODOs over chain-of-thought.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947666" y="1752600"/>
            <a:ext cx="4688235" cy="2920901"/>
          </a:xfrm>
          <a:prstGeom prst="roundRect">
            <a:avLst>
              <a:gd name="adj" fmla="val 2609"/>
            </a:avLst>
          </a:prstGeom>
          <a:solidFill>
            <a:srgbClr val="0B1426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227016" y="2031950"/>
            <a:ext cx="42121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HARNESS LAYERS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227016" y="2343001"/>
            <a:ext cx="4129534" cy="5396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Shape 20"/>
          <p:cNvSpPr/>
          <p:nvPr/>
        </p:nvSpPr>
        <p:spPr>
          <a:xfrm>
            <a:off x="4246066" y="2343001"/>
            <a:ext cx="0" cy="53965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2817" y="2546152"/>
            <a:ext cx="906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331768" y="2469952"/>
            <a:ext cx="29040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main agent context lean — only essentials reach the orchestrator.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227016" y="2984153"/>
            <a:ext cx="4129534" cy="5396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4246066" y="2984153"/>
            <a:ext cx="0" cy="539651"/>
          </a:xfrm>
          <a:prstGeom prst="line">
            <a:avLst/>
          </a:prstGeom>
          <a:noFill/>
          <a:ln w="38100">
            <a:solidFill>
              <a:srgbClr val="A855F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42817" y="3187303"/>
            <a:ext cx="906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QUARANTINE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331768" y="3111103"/>
            <a:ext cx="29040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subagent runs in its own context window — no cross-contamination.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227016" y="3625304"/>
            <a:ext cx="4129534" cy="5396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4246066" y="3625304"/>
            <a:ext cx="0" cy="539651"/>
          </a:xfrm>
          <a:prstGeom prst="line">
            <a:avLst/>
          </a:prstGeom>
          <a:noFill/>
          <a:ln w="381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442817" y="3828455"/>
            <a:ext cx="906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OFFLOAD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331768" y="3752255"/>
            <a:ext cx="29040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 tool results land in the virtual FS, not the chat history.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227016" y="4266456"/>
            <a:ext cx="4129534" cy="5396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Shape 32"/>
          <p:cNvSpPr/>
          <p:nvPr/>
        </p:nvSpPr>
        <p:spPr>
          <a:xfrm>
            <a:off x="4246066" y="4266456"/>
            <a:ext cx="0" cy="539651"/>
          </a:xfrm>
          <a:prstGeom prst="line">
            <a:avLst/>
          </a:prstGeom>
          <a:noFill/>
          <a:ln w="38100">
            <a:solidFill>
              <a:srgbClr val="F43F5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42817" y="4469606"/>
            <a:ext cx="906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31768" y="4393406"/>
            <a:ext cx="29040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write_todos forces explicit task decomposition before execution.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227016" y="4907607"/>
            <a:ext cx="4129534" cy="5396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Shape 36"/>
          <p:cNvSpPr/>
          <p:nvPr/>
        </p:nvSpPr>
        <p:spPr>
          <a:xfrm>
            <a:off x="4246066" y="4907607"/>
            <a:ext cx="0" cy="539651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42817" y="5110758"/>
            <a:ext cx="90672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5331768" y="5034558"/>
            <a:ext cx="2904024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Long-term memory + project artifacts outside the conversation state.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144426" y="4362450"/>
            <a:ext cx="421212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"Don't build agents. Build harnesses."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0" y="5041999"/>
            <a:ext cx="9144000" cy="101501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7950" y="355550"/>
            <a:ext cx="1447306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SHIPPED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2130028" y="419100"/>
            <a:ext cx="4219129" cy="25301"/>
          </a:xfrm>
          <a:prstGeom prst="rect">
            <a:avLst/>
          </a:prstGeom>
          <a:solidFill>
            <a:srgbClr val="24304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552307" y="355550"/>
            <a:ext cx="212541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SYNAPTIC COMMAND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07950" y="762000"/>
            <a:ext cx="8290509" cy="379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90"/>
              </a:lnSpc>
              <a:spcAft>
                <a:spcPts val="400"/>
              </a:spcAft>
              <a:buNone/>
            </a:pPr>
            <a:r>
              <a:rPr lang="en-US" sz="26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</a:t>
            </a:r>
            <a:pPr algn="l" indent="0" marL="0">
              <a:lnSpc>
                <a:spcPts val="2990"/>
              </a:lnSpc>
              <a:spcAft>
                <a:spcPts val="400"/>
              </a:spcAft>
              <a:buNone/>
            </a:pPr>
            <a:r>
              <a:rPr lang="en-US" sz="26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Synaptic Command</a:t>
            </a:r>
            <a:pPr algn="l" indent="0" marL="0">
              <a:lnSpc>
                <a:spcPts val="2990"/>
              </a:lnSpc>
              <a:spcAft>
                <a:spcPts val="400"/>
              </a:spcAft>
              <a:buNone/>
            </a:pPr>
            <a:r>
              <a:rPr lang="en-US" sz="26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Databricks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07950" y="1192411"/>
            <a:ext cx="829050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insurance multi-agent system, deployed as a Databricks App, built entirely on the deepagents harness.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7950" y="1650950"/>
            <a:ext cx="5219402" cy="673001"/>
          </a:xfrm>
          <a:prstGeom prst="roundRect">
            <a:avLst>
              <a:gd name="adj" fmla="val 7548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527000" y="1650950"/>
            <a:ext cx="0" cy="6730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3751" y="1765250"/>
            <a:ext cx="49224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723751" y="1904851"/>
            <a:ext cx="49224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 SPA — Synaptic Command UI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3751" y="2076301"/>
            <a:ext cx="492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SSE streaming · execution graph · memory panel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59691" y="2400151"/>
            <a:ext cx="4922419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07950" y="2552402"/>
            <a:ext cx="5219402" cy="673001"/>
          </a:xfrm>
          <a:prstGeom prst="roundRect">
            <a:avLst>
              <a:gd name="adj" fmla="val 7548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Shape 12"/>
          <p:cNvSpPr/>
          <p:nvPr/>
        </p:nvSpPr>
        <p:spPr>
          <a:xfrm>
            <a:off x="527000" y="2552402"/>
            <a:ext cx="0" cy="67300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3751" y="2666702"/>
            <a:ext cx="49224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723751" y="2806303"/>
            <a:ext cx="49224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FastAPI · /api/chat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23751" y="2977753"/>
            <a:ext cx="492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stream_mode = updates + messages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9691" y="3301603"/>
            <a:ext cx="4922419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7950" y="3453854"/>
            <a:ext cx="5219402" cy="673001"/>
          </a:xfrm>
          <a:prstGeom prst="roundRect">
            <a:avLst>
              <a:gd name="adj" fmla="val 7548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Shape 18"/>
          <p:cNvSpPr/>
          <p:nvPr/>
        </p:nvSpPr>
        <p:spPr>
          <a:xfrm>
            <a:off x="527000" y="3453854"/>
            <a:ext cx="0" cy="673001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23751" y="3568154"/>
            <a:ext cx="4922419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23751" y="3707755"/>
            <a:ext cx="492241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Opus 4.6 · deepagents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23751" y="3879205"/>
            <a:ext cx="492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recall_memories → route → save_memory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9691" y="4203055"/>
            <a:ext cx="4922419" cy="126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00"/>
              </a:lnSpc>
              <a:spcBef>
                <a:spcPts val="200"/>
              </a:spcBef>
              <a:spcAft>
                <a:spcPts val="200"/>
              </a:spcAft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7950" y="4406205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09451" y="4469606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Developer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095202" y="4406205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2196703" y="4469606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Reviewer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3682454" y="4406205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3783955" y="4469606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Agent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507950" y="4698057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609451" y="4761458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Manager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2095202" y="4698057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196703" y="4761458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Analytics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3682454" y="4698057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6" name="Text 34"/>
          <p:cNvSpPr/>
          <p:nvPr/>
        </p:nvSpPr>
        <p:spPr>
          <a:xfrm>
            <a:off x="3783955" y="4761458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Distribution Channels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07950" y="4989909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8" name="Text 36"/>
          <p:cNvSpPr/>
          <p:nvPr/>
        </p:nvSpPr>
        <p:spPr>
          <a:xfrm>
            <a:off x="609451" y="5053310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&amp; Underwriting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2095202" y="4989909"/>
            <a:ext cx="1536502" cy="241102"/>
          </a:xfrm>
          <a:prstGeom prst="roundRect">
            <a:avLst>
              <a:gd name="adj" fmla="val 15802"/>
            </a:avLst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2196703" y="5053310"/>
            <a:ext cx="136017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Analytics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588050" y="1650950"/>
            <a:ext cx="31089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9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88050" y="2524125"/>
            <a:ext cx="3048000" cy="0"/>
          </a:xfrm>
          <a:prstGeom prst="line">
            <a:avLst/>
          </a:prstGeom>
          <a:noFill/>
          <a:ln w="9525">
            <a:solidFill>
              <a:srgbClr val="24304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588050" y="1936700"/>
            <a:ext cx="90672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44" name="Text 42"/>
          <p:cNvSpPr/>
          <p:nvPr/>
        </p:nvSpPr>
        <p:spPr>
          <a:xfrm>
            <a:off x="6553200" y="2108150"/>
            <a:ext cx="21245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Specialized Subagents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53200" y="2285851"/>
            <a:ext cx="2124507" cy="1320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in its own quarantined context window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588050" y="3375273"/>
            <a:ext cx="3048000" cy="0"/>
          </a:xfrm>
          <a:prstGeom prst="line">
            <a:avLst/>
          </a:prstGeom>
          <a:noFill/>
          <a:ln w="9525">
            <a:solidFill>
              <a:srgbClr val="24304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88050" y="2655838"/>
            <a:ext cx="90672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48" name="Text 46"/>
          <p:cNvSpPr/>
          <p:nvPr/>
        </p:nvSpPr>
        <p:spPr>
          <a:xfrm>
            <a:off x="6553200" y="2827288"/>
            <a:ext cx="21245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Layers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553200" y="3004989"/>
            <a:ext cx="2124507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· long-term Delta · UC Volume artifacts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5588050" y="4226421"/>
            <a:ext cx="3048000" cy="0"/>
          </a:xfrm>
          <a:prstGeom prst="line">
            <a:avLst/>
          </a:prstGeom>
          <a:noFill/>
          <a:ln w="9525">
            <a:solidFill>
              <a:srgbClr val="24304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588050" y="3506986"/>
            <a:ext cx="906729" cy="355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2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52" name="Text 50"/>
          <p:cNvSpPr/>
          <p:nvPr/>
        </p:nvSpPr>
        <p:spPr>
          <a:xfrm>
            <a:off x="6553200" y="3678436"/>
            <a:ext cx="2124507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Genie Spaces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6553200" y="3856137"/>
            <a:ext cx="2124507" cy="264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40"/>
              </a:lnSpc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→ SQL on customer, channel, policy, claims data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5588050" y="4358134"/>
            <a:ext cx="3048000" cy="761851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5" name="Shape 53"/>
          <p:cNvSpPr/>
          <p:nvPr/>
        </p:nvSpPr>
        <p:spPr>
          <a:xfrm>
            <a:off x="5607100" y="4358134"/>
            <a:ext cx="0" cy="761851"/>
          </a:xfrm>
          <a:prstGeom prst="line">
            <a:avLst/>
          </a:prstGeom>
          <a:noFill/>
          <a:ln w="38100">
            <a:solidFill>
              <a:srgbClr val="06B6D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78550" y="4485084"/>
            <a:ext cx="2759202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8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RUNTIME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5778550" y="4650135"/>
            <a:ext cx="275920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Databricks App · Unity Catalog · Model Serving · Genie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0" y="5041999"/>
            <a:ext cx="9144000" cy="101501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228600" cy="514350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571500" y="4000500"/>
            <a:ext cx="0" cy="1143000"/>
          </a:xfrm>
          <a:prstGeom prst="line">
            <a:avLst/>
          </a:prstGeom>
          <a:noFill/>
          <a:ln w="11430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572000"/>
            <a:ext cx="1143000" cy="0"/>
          </a:xfrm>
          <a:prstGeom prst="line">
            <a:avLst/>
          </a:prstGeom>
          <a:noFill/>
          <a:ln w="1143000">
            <a:solidFill>
              <a:srgbClr val="06B6D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2000" y="762000"/>
            <a:ext cx="77724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1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TAKEAWAYS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762000" y="1092101"/>
            <a:ext cx="7772400" cy="5308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</a:t>
            </a:r>
            <a:pPr algn="l" indent="0" marL="0">
              <a:lnSpc>
                <a:spcPts val="4180"/>
              </a:lnSpc>
              <a:buNone/>
            </a:pPr>
            <a:r>
              <a:rPr lang="en-US" sz="3800" b="1" dirty="0">
                <a:solidFill>
                  <a:srgbClr val="7C3AE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actually</a:t>
            </a:r>
            <a:pPr algn="l" indent="0" marL="0">
              <a:lnSpc>
                <a:spcPts val="4180"/>
              </a:lnSpc>
              <a:buNone/>
            </a:pPr>
            <a:r>
              <a:rPr lang="en-US" sz="3800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shipped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762000" y="1902321"/>
            <a:ext cx="888950" cy="50750"/>
          </a:xfrm>
          <a:prstGeom prst="rect">
            <a:avLst/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62000" y="2181671"/>
            <a:ext cx="414427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68301" y="2181671"/>
            <a:ext cx="7357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 &gt; Framework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68301" y="2406997"/>
            <a:ext cx="735797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deepagents handles plumbing — we focus on agent behavior and domain logic.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62000" y="2754957"/>
            <a:ext cx="414427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168301" y="2754957"/>
            <a:ext cx="7357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Memory Layers Solve Real Problems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68301" y="2980283"/>
            <a:ext cx="735797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checkpoints, long-term Delta memory, and UC Volume artifacts.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2000" y="3328243"/>
            <a:ext cx="414427" cy="2513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80"/>
              </a:lnSpc>
              <a:buNone/>
            </a:pPr>
            <a:r>
              <a:rPr lang="en-US" sz="1800" b="1" dirty="0">
                <a:solidFill>
                  <a:srgbClr val="06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68301" y="3328243"/>
            <a:ext cx="735797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Production-Ready on Databricks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68301" y="3553569"/>
            <a:ext cx="7357973" cy="195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4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Apps + Model Serving + Unity Catalog + Genie — one platform, end-to-end.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80248" y="3086695"/>
            <a:ext cx="3555802" cy="1548854"/>
          </a:xfrm>
          <a:prstGeom prst="rect">
            <a:avLst/>
          </a:prstGeom>
          <a:solidFill>
            <a:srgbClr val="111B3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5080248" y="3105745"/>
            <a:ext cx="3555802" cy="0"/>
          </a:xfrm>
          <a:prstGeom prst="line">
            <a:avLst/>
          </a:prstGeom>
          <a:noFill/>
          <a:ln w="38100">
            <a:solidFill>
              <a:srgbClr val="7C3AE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34149" y="3378696"/>
            <a:ext cx="31089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900" b="1" dirty="0">
                <a:solidFill>
                  <a:srgbClr val="06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THOUGHT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334149" y="3613547"/>
            <a:ext cx="3108960" cy="507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600" b="1" i="1" dirty="0">
                <a:solidFill>
                  <a:srgbClr val="F1F5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"Don't build agents. Build harnesses."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5334149" y="4248299"/>
            <a:ext cx="31089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1000"/>
              </a:spcBef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DEEP AGENT PHILOSOPHY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228600" y="5092750"/>
            <a:ext cx="8915400" cy="50750"/>
          </a:xfrm>
          <a:prstGeom prst="rect">
            <a:avLst/>
          </a:prstGeom>
          <a:solidFill>
            <a:srgbClr val="06B6D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Beyond LangGraph: Engineering Deep Agents</dc:title>
  <dc:subject>PptxGenJS Presentation</dc:subject>
  <dc:creator>Sourav Banerjee</dc:creator>
  <cp:lastModifiedBy>Sourav Banerjee</cp:lastModifiedBy>
  <cp:revision>1</cp:revision>
  <dcterms:created xsi:type="dcterms:W3CDTF">2026-04-27T07:30:47Z</dcterms:created>
  <dcterms:modified xsi:type="dcterms:W3CDTF">2026-04-27T07:30:47Z</dcterms:modified>
</cp:coreProperties>
</file>