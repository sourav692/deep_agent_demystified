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863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8050" y="0"/>
            <a:ext cx="3555950" cy="5143500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134350" y="504825"/>
            <a:ext cx="1009650" cy="0"/>
          </a:xfrm>
          <a:prstGeom prst="line">
            <a:avLst/>
          </a:prstGeom>
          <a:noFill/>
          <a:ln w="10096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39175" y="0"/>
            <a:ext cx="0" cy="1009650"/>
          </a:xfrm>
          <a:prstGeom prst="line">
            <a:avLst/>
          </a:prstGeom>
          <a:noFill/>
          <a:ln w="10096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888950"/>
            <a:ext cx="49224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 COMMAND // DEEP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1193750"/>
            <a:ext cx="4922419" cy="1599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</a:t>
            </a:r>
            <a:r>
              <a:rPr lang="en-US" sz="4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4000" dirty="0"/>
          </a:p>
          <a:p>
            <a:pPr marL="0" indent="0" algn="l">
              <a:lnSpc>
                <a:spcPts val="4200"/>
              </a:lnSpc>
              <a:buNone/>
            </a:pPr>
            <a:r>
              <a:rPr lang="en-US" sz="4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Deep Agents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62000" y="3022104"/>
            <a:ext cx="888950" cy="507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3250555"/>
            <a:ext cx="4922419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multi-agent orchestration to harness-driven intelligence.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42099" y="888950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42099" y="1073051"/>
            <a:ext cx="28498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42099" y="1435001"/>
            <a:ext cx="2793950" cy="12650"/>
          </a:xfrm>
          <a:prstGeom prst="rect">
            <a:avLst/>
          </a:prstGeom>
          <a:solidFill>
            <a:srgbClr val="2430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42099" y="1600051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42099" y="1784152"/>
            <a:ext cx="28498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42099" y="2146102"/>
            <a:ext cx="2793950" cy="12650"/>
          </a:xfrm>
          <a:prstGeom prst="rect">
            <a:avLst/>
          </a:prstGeom>
          <a:solidFill>
            <a:srgbClr val="2430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42099" y="2311152"/>
            <a:ext cx="2849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42099" y="2495252"/>
            <a:ext cx="28498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Apps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4645075"/>
            <a:ext cx="16457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 BANERJEE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27846" y="467841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756446" y="4645075"/>
            <a:ext cx="3918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2013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//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685604" y="419100"/>
            <a:ext cx="4103787" cy="25301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92541" y="355550"/>
            <a:ext cx="1676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888950"/>
            <a:ext cx="8290509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80"/>
              </a:lnSpc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Synaptic Command on stock LangGraph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7950" y="1950541"/>
            <a:ext cx="829050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insurance multi-agent system: orchestrator + 8 subagents + persistent memory + project artifacts.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222450"/>
            <a:ext cx="35481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517725"/>
            <a:ext cx="3548131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 orchestrator that routes user intent to specialized subagents, recalls cross-conversation memory, and persists project outputs to Unity Catalog.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3614886"/>
            <a:ext cx="3548131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naive approach: build it directly in LangGraph using </a:t>
            </a: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StateGraph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a supervisor pattern and custom message reducers.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03961" y="2222450"/>
            <a:ext cx="4331940" cy="2476500"/>
          </a:xfrm>
          <a:prstGeom prst="roundRect">
            <a:avLst>
              <a:gd name="adj" fmla="val 410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83311" y="2501801"/>
            <a:ext cx="3848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CAPABILITIES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83311" y="2797076"/>
            <a:ext cx="3773239" cy="1663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 8 domain subagents (dev, research, memory, 4× Genie)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memory across conversation threads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project files to UC Volume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tool calls + intermediate steps via SSE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complex multi-step tasks reliably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18661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//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540645" y="419100"/>
            <a:ext cx="1971973" cy="25301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15768" y="355550"/>
            <a:ext cx="39986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STOCK LANGGRAPH FALLS SHORT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762000"/>
            <a:ext cx="8290509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2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pain points building this in raw LangGraph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1247031"/>
            <a:ext cx="82905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solvable — but you end up rebuilding the same harness, over and over.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650950"/>
            <a:ext cx="2942927" cy="1244501"/>
          </a:xfrm>
          <a:prstGeom prst="rect">
            <a:avLst/>
          </a:prstGeom>
          <a:solidFill>
            <a:srgbClr val="FFFFFF"/>
          </a:solidFill>
          <a:ln/>
          <a:effectLst>
            <a:outerShdw blurRad="57150" dist="21299" dir="3780000" algn="bl" rotWithShape="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1763" y="1650950"/>
            <a:ext cx="0" cy="1244501"/>
          </a:xfrm>
          <a:prstGeom prst="line">
            <a:avLst/>
          </a:prstGeom>
          <a:noFill/>
          <a:ln w="476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3276" y="1777901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3276" y="1949351"/>
            <a:ext cx="259069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State Plumbing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3276" y="2175272"/>
            <a:ext cx="259069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reducers, MessagesState extensions, and channel wiring for every new field.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77828" y="1650950"/>
            <a:ext cx="2942927" cy="1244501"/>
          </a:xfrm>
          <a:prstGeom prst="rect">
            <a:avLst/>
          </a:prstGeom>
          <a:solidFill>
            <a:srgbClr val="FFFFFF"/>
          </a:solidFill>
          <a:ln/>
          <a:effectLst>
            <a:outerShdw blurRad="57150" dist="21299" dir="3780000" algn="bl" rotWithShape="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01641" y="1650950"/>
            <a:ext cx="0" cy="1244501"/>
          </a:xfrm>
          <a:prstGeom prst="line">
            <a:avLst/>
          </a:prstGeom>
          <a:noFill/>
          <a:ln w="476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03154" y="1777901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03154" y="1949351"/>
            <a:ext cx="259069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Pollution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03154" y="2175272"/>
            <a:ext cx="259069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subagent messages flow back to the supervisor — token explosion across 8 agents.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2996952"/>
            <a:ext cx="2942927" cy="1244501"/>
          </a:xfrm>
          <a:prstGeom prst="rect">
            <a:avLst/>
          </a:prstGeom>
          <a:solidFill>
            <a:srgbClr val="FFFFFF"/>
          </a:solidFill>
          <a:ln/>
          <a:effectLst>
            <a:outerShdw blurRad="57150" dist="21299" dir="3780000" algn="bl" rotWithShape="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2996952"/>
            <a:ext cx="0" cy="1244501"/>
          </a:xfrm>
          <a:prstGeom prst="line">
            <a:avLst/>
          </a:prstGeom>
          <a:noFill/>
          <a:ln w="476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3276" y="3123902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3276" y="3295352"/>
            <a:ext cx="259069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First-Class Planning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3276" y="3521273"/>
            <a:ext cx="259069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ReAct-only loops. No built-in TODO list, no scratchpad, no plan-execute scaffolding.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77828" y="2996952"/>
            <a:ext cx="2942927" cy="1244501"/>
          </a:xfrm>
          <a:prstGeom prst="rect">
            <a:avLst/>
          </a:prstGeom>
          <a:solidFill>
            <a:srgbClr val="FFFFFF"/>
          </a:solidFill>
          <a:ln/>
          <a:effectLst>
            <a:outerShdw blurRad="57150" dist="21299" dir="3780000" algn="bl" rotWithShape="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601641" y="2996952"/>
            <a:ext cx="0" cy="1244501"/>
          </a:xfrm>
          <a:prstGeom prst="line">
            <a:avLst/>
          </a:prstGeom>
          <a:noFill/>
          <a:ln w="476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03154" y="3123902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03154" y="3295352"/>
            <a:ext cx="259069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Result Bloat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03154" y="3521273"/>
            <a:ext cx="259069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web search and SQL results clog the orchestrator's window with no offload primitive.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950" y="4342954"/>
            <a:ext cx="2942927" cy="1244501"/>
          </a:xfrm>
          <a:prstGeom prst="rect">
            <a:avLst/>
          </a:prstGeom>
          <a:solidFill>
            <a:srgbClr val="FFFFFF"/>
          </a:solidFill>
          <a:ln/>
          <a:effectLst>
            <a:outerShdw blurRad="57150" dist="21299" dir="3780000" algn="bl" rotWithShape="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31763" y="4342954"/>
            <a:ext cx="0" cy="1244501"/>
          </a:xfrm>
          <a:prstGeom prst="line">
            <a:avLst/>
          </a:prstGeom>
          <a:noFill/>
          <a:ln w="476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3276" y="4469904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3276" y="4641354"/>
            <a:ext cx="259069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Boilerplate Subagents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3276" y="4867275"/>
            <a:ext cx="259069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subagent = bespoke graph, prompt, tool wiring, recursion guards. Repeat × 8.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77828" y="4342954"/>
            <a:ext cx="2942927" cy="1244501"/>
          </a:xfrm>
          <a:prstGeom prst="rect">
            <a:avLst/>
          </a:prstGeom>
          <a:solidFill>
            <a:srgbClr val="FFFFFF"/>
          </a:solidFill>
          <a:ln/>
          <a:effectLst>
            <a:outerShdw blurRad="57150" dist="21299" dir="3780000" algn="bl" rotWithShape="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601641" y="4342954"/>
            <a:ext cx="0" cy="1244501"/>
          </a:xfrm>
          <a:prstGeom prst="line">
            <a:avLst/>
          </a:prstGeom>
          <a:noFill/>
          <a:ln w="476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03154" y="4469904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03154" y="4641354"/>
            <a:ext cx="2590699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File System Primitive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03154" y="4867275"/>
            <a:ext cx="2590699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way to share artifacts between agents — invent your own every time.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19822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// INTRODUCING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654498" y="419100"/>
            <a:ext cx="4376291" cy="25301"/>
          </a:xfrm>
          <a:prstGeom prst="rect">
            <a:avLst/>
          </a:prstGeom>
          <a:solidFill>
            <a:srgbClr val="2430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3940" y="355550"/>
            <a:ext cx="1430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825401"/>
            <a:ext cx="829050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</a:t>
            </a:r>
            <a:r>
              <a:rPr lang="en-US" sz="3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Agents</a:t>
            </a:r>
            <a:r>
              <a:rPr lang="en-US" sz="3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 opinionated harness on top of LangGraph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26745" y="1708161"/>
            <a:ext cx="829050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new framework — a curated set of primitives that turn raw LangGraph into a production-ready agentic runtime.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287916"/>
            <a:ext cx="8734276" cy="990302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2271730"/>
            <a:ext cx="23813" cy="623571"/>
          </a:xfrm>
          <a:prstGeom prst="line">
            <a:avLst/>
          </a:prstGeom>
          <a:noFill/>
          <a:ln w="476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4926" y="2295376"/>
            <a:ext cx="7398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deepagents</a:t>
            </a:r>
            <a:r>
              <a:rPr lang="en-US" sz="14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LangGraph </a:t>
            </a: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4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Planning </a:t>
            </a: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4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Virtual FS </a:t>
            </a: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4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Subagents </a:t>
            </a: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4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920901"/>
            <a:ext cx="1930598" cy="1636663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7950" y="2939951"/>
            <a:ext cx="1930598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651" y="3162151"/>
            <a:ext cx="160670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651" y="3466802"/>
            <a:ext cx="16067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Tool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651" y="3714452"/>
            <a:ext cx="160670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</a:t>
            </a: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write_todos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explicit, inspectable task plans before execution.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40050" y="2920901"/>
            <a:ext cx="1930450" cy="1636663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40050" y="2939951"/>
            <a:ext cx="193045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17750" y="3162151"/>
            <a:ext cx="160654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17750" y="3466802"/>
            <a:ext cx="1606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File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17750" y="3714452"/>
            <a:ext cx="160654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State-backed </a:t>
            </a: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 / read_file / write_file / edit_file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share artifacts without context bloat.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2920901"/>
            <a:ext cx="1930450" cy="1636663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72000" y="2939951"/>
            <a:ext cx="1930450" cy="0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49701" y="3162151"/>
            <a:ext cx="160654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49701" y="3466802"/>
            <a:ext cx="1606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49701" y="3714452"/>
            <a:ext cx="160654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isolated context windows per role. Each subagent has its own scratch space.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03950" y="2920901"/>
            <a:ext cx="1930450" cy="1636663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603950" y="2939951"/>
            <a:ext cx="193045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81651" y="3162151"/>
            <a:ext cx="160654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24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81651" y="3466802"/>
            <a:ext cx="1606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Scaffold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81651" y="3714452"/>
            <a:ext cx="160654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Battle-tested Claude-style system instructions baked in — skip the prompt re-engineering.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16593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// 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337941" y="419100"/>
            <a:ext cx="3679478" cy="25301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20569" y="355550"/>
            <a:ext cx="2463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762000"/>
            <a:ext cx="8290509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2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tuning the model. </a:t>
            </a: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the harness.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1247031"/>
            <a:ext cx="829050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fixed. The scaffolding around it is where reliability and steerability come from.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752600"/>
            <a:ext cx="3185815" cy="86588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3470" dir="2700000" algn="bl" rotWithShape="0">
              <a:srgbClr val="0F172A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1763" y="1752600"/>
            <a:ext cx="0" cy="865882"/>
          </a:xfrm>
          <a:prstGeom prst="line">
            <a:avLst/>
          </a:prstGeom>
          <a:noFill/>
          <a:ln w="476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726" y="1930301"/>
            <a:ext cx="278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726" y="2120801"/>
            <a:ext cx="27865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 the LLM from the orchestration logic — swap models without rewriting agents.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2719983"/>
            <a:ext cx="3185815" cy="86588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3470" dir="2700000" algn="bl" rotWithShape="0">
              <a:srgbClr val="0F172A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2719983"/>
            <a:ext cx="0" cy="865882"/>
          </a:xfrm>
          <a:prstGeom prst="line">
            <a:avLst/>
          </a:prstGeom>
          <a:noFill/>
          <a:ln w="476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726" y="2897684"/>
            <a:ext cx="278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726" y="3088184"/>
            <a:ext cx="27865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harness, different agents and tools. Subagents become composable units.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3687366"/>
            <a:ext cx="3185815" cy="86588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3470" dir="2700000" algn="bl" rotWithShape="0">
              <a:srgbClr val="0F172A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1763" y="3687366"/>
            <a:ext cx="0" cy="865882"/>
          </a:xfrm>
          <a:prstGeom prst="line">
            <a:avLst/>
          </a:prstGeom>
          <a:noFill/>
          <a:ln w="476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726" y="3865066"/>
            <a:ext cx="278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726" y="4055566"/>
            <a:ext cx="27865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planning beats implicit reasoning. Inspectable TODOs over chain-of-thought.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24002" y="1767185"/>
            <a:ext cx="4688235" cy="3291995"/>
          </a:xfrm>
          <a:prstGeom prst="roundRect">
            <a:avLst>
              <a:gd name="adj" fmla="val 2609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14506" y="1629519"/>
            <a:ext cx="4212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HARNESS LAYERS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97096" y="1875615"/>
            <a:ext cx="4129534" cy="539651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216146" y="1875615"/>
            <a:ext cx="0" cy="539651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12897" y="2078766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1848" y="2002566"/>
            <a:ext cx="29040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main agent context lean — only essentials reach the orchestrator.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97096" y="2516767"/>
            <a:ext cx="4129534" cy="539651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216146" y="2516767"/>
            <a:ext cx="0" cy="539651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12897" y="2719917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1848" y="2643717"/>
            <a:ext cx="29040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subagent runs in its own context window — no cross-contamination.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97096" y="3157918"/>
            <a:ext cx="4129534" cy="539651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216146" y="3157918"/>
            <a:ext cx="0" cy="539651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12897" y="3361069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OFFLOAD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1848" y="3284869"/>
            <a:ext cx="29040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tool results land in the virtual FS, not the chat history.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97096" y="3799070"/>
            <a:ext cx="4129534" cy="539651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216146" y="3799070"/>
            <a:ext cx="0" cy="539651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12897" y="4002220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01848" y="3926020"/>
            <a:ext cx="29040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write_todos forces explicit task decomposition before execution.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55801" y="4449473"/>
            <a:ext cx="4129534" cy="539651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216146" y="4440221"/>
            <a:ext cx="0" cy="53965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12897" y="4643372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1848" y="4567172"/>
            <a:ext cx="29040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memory + project artifacts outside the conversation state.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0" y="4967222"/>
            <a:ext cx="9144000" cy="1015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14473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// SHIPPED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130028" y="419100"/>
            <a:ext cx="4219129" cy="25301"/>
          </a:xfrm>
          <a:prstGeom prst="rect">
            <a:avLst/>
          </a:prstGeom>
          <a:solidFill>
            <a:srgbClr val="24304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52307" y="355550"/>
            <a:ext cx="2125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 COMMAND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762000"/>
            <a:ext cx="8290509" cy="37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90"/>
              </a:lnSpc>
              <a:spcAft>
                <a:spcPts val="400"/>
              </a:spcAft>
              <a:buNone/>
            </a:pPr>
            <a:r>
              <a:rPr lang="en-US" sz="2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 </a:t>
            </a: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Synaptic Command</a:t>
            </a:r>
            <a:r>
              <a:rPr lang="en-US" sz="2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Databricks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7950" y="1192411"/>
            <a:ext cx="82905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insurance multi-agent system, deployed as a Databricks App, built entirely on the deepagents harness.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650950"/>
            <a:ext cx="5219402" cy="673001"/>
          </a:xfrm>
          <a:prstGeom prst="roundRect">
            <a:avLst>
              <a:gd name="adj" fmla="val 7548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7000" y="1650950"/>
            <a:ext cx="0" cy="673001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3751" y="1765250"/>
            <a:ext cx="492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23751" y="1904851"/>
            <a:ext cx="49224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SPA — Synaptic Command 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3751" y="2076301"/>
            <a:ext cx="492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streaming · execution graph · memory panel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9691" y="2400151"/>
            <a:ext cx="492241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552402"/>
            <a:ext cx="5219402" cy="673001"/>
          </a:xfrm>
          <a:prstGeom prst="roundRect">
            <a:avLst>
              <a:gd name="adj" fmla="val 7548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2552402"/>
            <a:ext cx="0" cy="673001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3751" y="2666702"/>
            <a:ext cx="492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3751" y="2806303"/>
            <a:ext cx="49224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/api/chat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751" y="2977753"/>
            <a:ext cx="492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stream_mode = updates + messages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9691" y="3301603"/>
            <a:ext cx="492241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950" y="3453854"/>
            <a:ext cx="5219402" cy="673001"/>
          </a:xfrm>
          <a:prstGeom prst="roundRect">
            <a:avLst>
              <a:gd name="adj" fmla="val 7548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27000" y="3453854"/>
            <a:ext cx="0" cy="67300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3751" y="3568154"/>
            <a:ext cx="492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3751" y="3707755"/>
            <a:ext cx="49224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 · deepagents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3751" y="3879205"/>
            <a:ext cx="492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recall_memories → route → save_memory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9691" y="4203055"/>
            <a:ext cx="492241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950" y="4191249"/>
            <a:ext cx="1536502" cy="241102"/>
          </a:xfrm>
          <a:prstGeom prst="roundRect">
            <a:avLst>
              <a:gd name="adj" fmla="val 15802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9451" y="4254650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Developer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95202" y="4191249"/>
            <a:ext cx="1536502" cy="241102"/>
          </a:xfrm>
          <a:prstGeom prst="roundRect">
            <a:avLst>
              <a:gd name="adj" fmla="val 15802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96703" y="4254650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82454" y="4191249"/>
            <a:ext cx="1536502" cy="241102"/>
          </a:xfrm>
          <a:prstGeom prst="roundRect">
            <a:avLst>
              <a:gd name="adj" fmla="val 15802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783955" y="4254650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Agent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950" y="4483101"/>
            <a:ext cx="1536502" cy="241102"/>
          </a:xfrm>
          <a:prstGeom prst="roundRect">
            <a:avLst>
              <a:gd name="adj" fmla="val 15802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9451" y="4546502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Manager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95202" y="4483101"/>
            <a:ext cx="1536502" cy="241102"/>
          </a:xfrm>
          <a:prstGeom prst="roundRect">
            <a:avLst>
              <a:gd name="adj" fmla="val 15802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96703" y="4546502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Analytics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82454" y="4483101"/>
            <a:ext cx="1536502" cy="241102"/>
          </a:xfrm>
          <a:prstGeom prst="roundRect">
            <a:avLst>
              <a:gd name="adj" fmla="val 15802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783955" y="4546502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Channels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950" y="4774953"/>
            <a:ext cx="1536502" cy="241102"/>
          </a:xfrm>
          <a:prstGeom prst="roundRect">
            <a:avLst>
              <a:gd name="adj" fmla="val 15802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09451" y="4838354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Underwriting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095202" y="4774953"/>
            <a:ext cx="1536502" cy="241102"/>
          </a:xfrm>
          <a:prstGeom prst="roundRect">
            <a:avLst>
              <a:gd name="adj" fmla="val 15802"/>
            </a:avLst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196703" y="4838354"/>
            <a:ext cx="1360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Analytics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88050" y="1650950"/>
            <a:ext cx="3108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88050" y="2524125"/>
            <a:ext cx="304800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88050" y="1936700"/>
            <a:ext cx="90672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553200" y="2108150"/>
            <a:ext cx="21245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Subagents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53200" y="2285851"/>
            <a:ext cx="212450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 its own quarantined context window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588050" y="3375273"/>
            <a:ext cx="304800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588050" y="2655838"/>
            <a:ext cx="90672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6553200" y="2827288"/>
            <a:ext cx="21245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Layers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53200" y="3004989"/>
            <a:ext cx="21245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· long-term Delta · UC Volume artifacts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588050" y="4226421"/>
            <a:ext cx="304800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88050" y="3506986"/>
            <a:ext cx="90672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6553200" y="3678436"/>
            <a:ext cx="21245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 Spaces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53200" y="3856137"/>
            <a:ext cx="21245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→ SQL on customer, channel, policy, claims data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588050" y="4358134"/>
            <a:ext cx="3048000" cy="761851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5607100" y="4358134"/>
            <a:ext cx="0" cy="761851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778550" y="4485084"/>
            <a:ext cx="27592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778550" y="4650135"/>
            <a:ext cx="2759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App · Unity Catalog · Model Serving · Genie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369" y="5041999"/>
            <a:ext cx="9144000" cy="10150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76200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//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1092101"/>
            <a:ext cx="7772400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</a:t>
            </a:r>
            <a:r>
              <a:rPr lang="en-US" sz="3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</a:t>
            </a:r>
            <a:r>
              <a:rPr lang="en-US" sz="3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shipped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2000" y="1902321"/>
            <a:ext cx="888950" cy="507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2181671"/>
            <a:ext cx="414427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8301" y="2181671"/>
            <a:ext cx="73579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&gt; Framework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8301" y="2406997"/>
            <a:ext cx="735797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 handles plumbing — we focus on agent behavior and domain logic.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2000" y="2754957"/>
            <a:ext cx="414427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8301" y="2754957"/>
            <a:ext cx="73579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Memory Layers Solve Real Problems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8301" y="2980283"/>
            <a:ext cx="735797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checkpoints, long-term Delta memory, and UC Volume artifacts.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2000" y="3328243"/>
            <a:ext cx="414427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68301" y="3328243"/>
            <a:ext cx="73579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on Databricks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8301" y="3553569"/>
            <a:ext cx="735797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+ Model Serving + Unity Catalog + Genie — one platform, end-to-end.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0630" y="3774430"/>
            <a:ext cx="3501121" cy="1046709"/>
          </a:xfrm>
          <a:prstGeom prst="rect">
            <a:avLst/>
          </a:prstGeom>
          <a:solidFill>
            <a:srgbClr val="111B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41644" y="4774258"/>
            <a:ext cx="3061151" cy="90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THOUGHT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41644" y="3847430"/>
            <a:ext cx="3061151" cy="343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build agents. Build harnesses."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1644" y="4482182"/>
            <a:ext cx="3061151" cy="90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DEEP AGENT PHILOSOPHY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" y="5092750"/>
            <a:ext cx="8915400" cy="507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779</Words>
  <Application>Microsoft Macintosh PowerPoint</Application>
  <PresentationFormat>On-screen Show (16:9)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LangGraph: Engineering Deep Agents</dc:title>
  <dc:subject>PptxGenJS Presentation</dc:subject>
  <dc:creator>Sourav Banerjee</dc:creator>
  <cp:lastModifiedBy>Sourav Banerjee</cp:lastModifiedBy>
  <cp:revision>2</cp:revision>
  <dcterms:created xsi:type="dcterms:W3CDTF">2026-04-27T07:30:47Z</dcterms:created>
  <dcterms:modified xsi:type="dcterms:W3CDTF">2026-04-27T14:44:09Z</dcterms:modified>
</cp:coreProperties>
</file>